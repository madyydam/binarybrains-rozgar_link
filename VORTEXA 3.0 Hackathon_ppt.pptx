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Heading Now 31-38" panose="020B0604020202020204" charset="0"/>
      <p:regular r:id="rId10"/>
    </p:embeddedFont>
    <p:embeddedFont>
      <p:font typeface="Heading Now 31-38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10.pn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7.png"/><Relationship Id="rId2" Type="http://schemas.openxmlformats.org/officeDocument/2006/relationships/image" Target="../media/image13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5" Type="http://schemas.openxmlformats.org/officeDocument/2006/relationships/image" Target="../media/image20.png"/><Relationship Id="rId10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11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s://www.ilo.org/publications/india-employment-report-2024-youth-employment-education-and-skills" TargetMode="External"/><Relationship Id="rId1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hyperlink" Target="https://www.weforum.org/publications/the-future-of-jobs-report-2025/" TargetMode="External"/><Relationship Id="rId17" Type="http://schemas.openxmlformats.org/officeDocument/2006/relationships/image" Target="../media/image23.png"/><Relationship Id="rId2" Type="http://schemas.openxmlformats.org/officeDocument/2006/relationships/image" Target="../media/image13.png"/><Relationship Id="rId16" Type="http://schemas.openxmlformats.org/officeDocument/2006/relationships/hyperlink" Target="https://www.weforum.org/stories/all/the-future-of-jobs-in-india-employers-seek-to-boost-tech-talent-to-drive-ai-and-digital-technology-growth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2.png"/><Relationship Id="rId5" Type="http://schemas.openxmlformats.org/officeDocument/2006/relationships/image" Target="../media/image6.png"/><Relationship Id="rId15" Type="http://schemas.openxmlformats.org/officeDocument/2006/relationships/hyperlink" Target="https://www.ncs.gov.in/" TargetMode="External"/><Relationship Id="rId10" Type="http://schemas.openxmlformats.org/officeDocument/2006/relationships/image" Target="../media/image9.png"/><Relationship Id="rId19" Type="http://schemas.openxmlformats.org/officeDocument/2006/relationships/hyperlink" Target="https://rozgarsathi.vercel.app/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11.png"/><Relationship Id="rId14" Type="http://schemas.openxmlformats.org/officeDocument/2006/relationships/hyperlink" Target="https://www.skillindiadigital.gov.in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16893" y="4930326"/>
            <a:ext cx="1790743" cy="1009954"/>
          </a:xfrm>
          <a:custGeom>
            <a:avLst/>
            <a:gdLst/>
            <a:ahLst/>
            <a:cxnLst/>
            <a:rect l="l" t="t" r="r" b="b"/>
            <a:pathLst>
              <a:path w="1790743" h="1009954">
                <a:moveTo>
                  <a:pt x="0" y="0"/>
                </a:moveTo>
                <a:lnTo>
                  <a:pt x="1790744" y="0"/>
                </a:lnTo>
                <a:lnTo>
                  <a:pt x="1790744" y="1009954"/>
                </a:lnTo>
                <a:lnTo>
                  <a:pt x="0" y="1009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60477" y="6685369"/>
            <a:ext cx="467352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71"/>
              </a:lnSpc>
            </a:pPr>
            <a:r>
              <a:rPr lang="en-US" sz="4771" b="1" spc="46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NAME : Binary Brains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6677" y="4798497"/>
            <a:ext cx="5932460" cy="807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5148" b="1" spc="50" dirty="0">
                <a:solidFill>
                  <a:srgbClr val="1A2651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 TITLE :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6677" y="3700840"/>
            <a:ext cx="6250076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5148" b="1" spc="50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DOMAIN &amp; NO :</a:t>
            </a:r>
            <a:r>
              <a:rPr lang="en-US" sz="5148" b="1" spc="50" dirty="0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  07</a:t>
            </a:r>
            <a:r>
              <a:rPr lang="en-US" sz="5148" b="1" spc="50" dirty="0">
                <a:solidFill>
                  <a:srgbClr val="161F3E"/>
                </a:solidFill>
                <a:latin typeface="Heading Now 31-38"/>
                <a:ea typeface="Heading Now 31-38 Bold"/>
                <a:cs typeface="Heading Now 31-38 Bold"/>
                <a:sym typeface="Heading Now 31-38"/>
              </a:rPr>
              <a:t>, G-01</a:t>
            </a:r>
            <a:endParaRPr lang="en-US" sz="5148" b="1" spc="50" dirty="0">
              <a:solidFill>
                <a:srgbClr val="161F3E"/>
              </a:solidFill>
              <a:latin typeface="Heading Now 31-38"/>
              <a:ea typeface="Heading Now 31-38"/>
              <a:cs typeface="Heading Now 31-38"/>
              <a:sym typeface="Heading Now 31-38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36677" y="8000180"/>
            <a:ext cx="299712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72"/>
              </a:lnSpc>
            </a:pPr>
            <a:r>
              <a:rPr lang="en-US" sz="4472" b="1" spc="43" dirty="0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TEAM ID : rO3EvgBd</a:t>
            </a:r>
          </a:p>
        </p:txBody>
      </p:sp>
      <p:sp>
        <p:nvSpPr>
          <p:cNvPr id="7" name="Freeform 7"/>
          <p:cNvSpPr/>
          <p:nvPr/>
        </p:nvSpPr>
        <p:spPr>
          <a:xfrm>
            <a:off x="16127273" y="239946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7" y="0"/>
                </a:lnTo>
                <a:lnTo>
                  <a:pt x="2160727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594418" y="366545"/>
            <a:ext cx="4010276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3C3B56">
                    <a:alpha val="84706"/>
                  </a:srgbClr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86268" y="366545"/>
            <a:ext cx="1413653" cy="2096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06"/>
              </a:lnSpc>
            </a:pPr>
            <a:r>
              <a:rPr lang="en-US" sz="13306" b="1" spc="129">
                <a:solidFill>
                  <a:srgbClr val="7F5E87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3.0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7876" y="2201546"/>
            <a:ext cx="5496285" cy="239623"/>
          </a:xfrm>
          <a:custGeom>
            <a:avLst/>
            <a:gdLst/>
            <a:ahLst/>
            <a:cxnLst/>
            <a:rect l="l" t="t" r="r" b="b"/>
            <a:pathLst>
              <a:path w="5496285" h="239623">
                <a:moveTo>
                  <a:pt x="0" y="0"/>
                </a:moveTo>
                <a:lnTo>
                  <a:pt x="5496285" y="0"/>
                </a:lnTo>
                <a:lnTo>
                  <a:pt x="5496285" y="239623"/>
                </a:lnTo>
                <a:lnTo>
                  <a:pt x="0" y="23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6181496" y="1747988"/>
            <a:ext cx="2453149" cy="57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8"/>
              </a:lnSpc>
            </a:pPr>
            <a:r>
              <a:rPr lang="en-US" sz="3608" b="1" spc="89">
                <a:solidFill>
                  <a:srgbClr val="3F3F3F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12 HRS HACKATHON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6677" y="2531879"/>
            <a:ext cx="2119254" cy="4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721" b="1" spc="67">
                <a:solidFill>
                  <a:srgbClr val="161F3E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POWERED BY </a:t>
            </a:r>
            <a:r>
              <a:rPr lang="en-US" sz="2721" b="1" spc="67">
                <a:solidFill>
                  <a:srgbClr val="4E4A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A.I.R.S</a:t>
            </a:r>
          </a:p>
        </p:txBody>
      </p:sp>
      <p:sp>
        <p:nvSpPr>
          <p:cNvPr id="13" name="Freeform 13"/>
          <p:cNvSpPr/>
          <p:nvPr/>
        </p:nvSpPr>
        <p:spPr>
          <a:xfrm>
            <a:off x="0" y="-303755"/>
            <a:ext cx="1750048" cy="10607152"/>
          </a:xfrm>
          <a:custGeom>
            <a:avLst/>
            <a:gdLst/>
            <a:ahLst/>
            <a:cxnLst/>
            <a:rect l="l" t="t" r="r" b="b"/>
            <a:pathLst>
              <a:path w="1750048" h="10607152">
                <a:moveTo>
                  <a:pt x="0" y="0"/>
                </a:moveTo>
                <a:lnTo>
                  <a:pt x="1750048" y="0"/>
                </a:lnTo>
                <a:lnTo>
                  <a:pt x="1750048" y="10607153"/>
                </a:lnTo>
                <a:lnTo>
                  <a:pt x="0" y="106071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r="-378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436133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2739803" y="7046873"/>
            <a:ext cx="5548197" cy="3256525"/>
          </a:xfrm>
          <a:custGeom>
            <a:avLst/>
            <a:gdLst/>
            <a:ahLst/>
            <a:cxnLst/>
            <a:rect l="l" t="t" r="r" b="b"/>
            <a:pathLst>
              <a:path w="5548197" h="3256525">
                <a:moveTo>
                  <a:pt x="0" y="0"/>
                </a:moveTo>
                <a:lnTo>
                  <a:pt x="5548197" y="0"/>
                </a:lnTo>
                <a:lnTo>
                  <a:pt x="5548197" y="3256525"/>
                </a:lnTo>
                <a:lnTo>
                  <a:pt x="0" y="3256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9154" b="-305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6975464" y="5455062"/>
            <a:ext cx="1312536" cy="4088563"/>
          </a:xfrm>
          <a:custGeom>
            <a:avLst/>
            <a:gdLst/>
            <a:ahLst/>
            <a:cxnLst/>
            <a:rect l="l" t="t" r="r" b="b"/>
            <a:pathLst>
              <a:path w="1312536" h="4088563">
                <a:moveTo>
                  <a:pt x="0" y="0"/>
                </a:moveTo>
                <a:lnTo>
                  <a:pt x="1312536" y="0"/>
                </a:lnTo>
                <a:lnTo>
                  <a:pt x="131253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6706941" y="7046873"/>
            <a:ext cx="1104718" cy="2372241"/>
          </a:xfrm>
          <a:custGeom>
            <a:avLst/>
            <a:gdLst/>
            <a:ahLst/>
            <a:cxnLst/>
            <a:rect l="l" t="t" r="r" b="b"/>
            <a:pathLst>
              <a:path w="1104718" h="2372241">
                <a:moveTo>
                  <a:pt x="0" y="0"/>
                </a:moveTo>
                <a:lnTo>
                  <a:pt x="1104718" y="0"/>
                </a:lnTo>
                <a:lnTo>
                  <a:pt x="110471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4727951" y="2550929"/>
            <a:ext cx="3560049" cy="1756785"/>
          </a:xfrm>
          <a:custGeom>
            <a:avLst/>
            <a:gdLst/>
            <a:ahLst/>
            <a:cxnLst/>
            <a:rect l="l" t="t" r="r" b="b"/>
            <a:pathLst>
              <a:path w="3560049" h="1756785">
                <a:moveTo>
                  <a:pt x="0" y="0"/>
                </a:moveTo>
                <a:lnTo>
                  <a:pt x="3560049" y="0"/>
                </a:lnTo>
                <a:lnTo>
                  <a:pt x="3560049" y="1756784"/>
                </a:lnTo>
                <a:lnTo>
                  <a:pt x="0" y="17567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57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91A5D3-0908-5FFF-4ACC-C6872CCF1ED0}"/>
              </a:ext>
            </a:extLst>
          </p:cNvPr>
          <p:cNvSpPr txBox="1"/>
          <p:nvPr/>
        </p:nvSpPr>
        <p:spPr>
          <a:xfrm>
            <a:off x="5548465" y="4649359"/>
            <a:ext cx="10363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/>
              <a:t>RozgarLink</a:t>
            </a:r>
            <a:r>
              <a:rPr lang="en-US" sz="4400" b="1" dirty="0"/>
              <a:t>: Skills-to-Opportunity Matching Engine</a:t>
            </a:r>
            <a:endParaRPr lang="en-IN" sz="4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74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-1418328" y="285750"/>
            <a:ext cx="883111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PROBLEM STATEMENT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250" r="-112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12DC7C-DE0C-01DE-6ED9-80647416D0AE}"/>
              </a:ext>
            </a:extLst>
          </p:cNvPr>
          <p:cNvSpPr txBox="1"/>
          <p:nvPr/>
        </p:nvSpPr>
        <p:spPr>
          <a:xfrm>
            <a:off x="255295" y="1485900"/>
            <a:ext cx="76695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Job seekers miss suitable opportunities due to skill-wording mismatches and unclear eligibility requirements.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7B99A3-3D62-DF64-E4FF-02A5952DC1B9}"/>
              </a:ext>
            </a:extLst>
          </p:cNvPr>
          <p:cNvSpPr txBox="1"/>
          <p:nvPr/>
        </p:nvSpPr>
        <p:spPr>
          <a:xfrm>
            <a:off x="228600" y="3112949"/>
            <a:ext cx="86106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3600" b="1" u="sng" dirty="0"/>
              <a:t>Problems Faced by Different Users :</a:t>
            </a:r>
          </a:p>
          <a:p>
            <a:pPr marL="457200" lvl="0" indent="-4572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2060"/>
                </a:solidFill>
              </a:rPr>
              <a:t>Job Seekers: </a:t>
            </a:r>
            <a:r>
              <a:rPr lang="en-IN" sz="2800" dirty="0"/>
              <a:t>Difficulty finding suitable jobs and understanding eligibility or skill gaps.</a:t>
            </a:r>
          </a:p>
          <a:p>
            <a:pPr marL="457200" lvl="0" indent="-457200">
              <a:buClr>
                <a:srgbClr val="002060"/>
              </a:buClr>
              <a:buFont typeface="Wingdings" panose="05000000000000000000" pitchFamily="2" charset="2"/>
              <a:buChar char="v"/>
            </a:pPr>
            <a:endParaRPr lang="en-IN" sz="2800" dirty="0"/>
          </a:p>
          <a:p>
            <a:pPr marL="457200" lvl="0" indent="-4572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2060"/>
                </a:solidFill>
              </a:rPr>
              <a:t>Recruiters: </a:t>
            </a:r>
            <a:r>
              <a:rPr lang="en-IN" sz="2800" dirty="0"/>
              <a:t>Too many irrelevant applications and time-consuming screening.</a:t>
            </a:r>
          </a:p>
          <a:p>
            <a:pPr marL="457200" lvl="0" indent="-457200">
              <a:buClr>
                <a:srgbClr val="002060"/>
              </a:buClr>
              <a:buFont typeface="Wingdings" panose="05000000000000000000" pitchFamily="2" charset="2"/>
              <a:buChar char="v"/>
            </a:pPr>
            <a:endParaRPr lang="en-IN" sz="2800" dirty="0"/>
          </a:p>
          <a:p>
            <a:pPr marL="457200" lvl="0" indent="-4572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2060"/>
                </a:solidFill>
              </a:rPr>
              <a:t>Government Services: </a:t>
            </a:r>
            <a:r>
              <a:rPr lang="en-IN" sz="2800" dirty="0"/>
              <a:t>Difficulty connecting candidates with suitable vacancies.</a:t>
            </a:r>
          </a:p>
          <a:p>
            <a:pPr marL="457200" lvl="0" indent="-457200">
              <a:buClr>
                <a:srgbClr val="002060"/>
              </a:buClr>
              <a:buFont typeface="Wingdings" panose="05000000000000000000" pitchFamily="2" charset="2"/>
              <a:buChar char="v"/>
            </a:pPr>
            <a:endParaRPr lang="en-IN" sz="2800" dirty="0"/>
          </a:p>
          <a:p>
            <a:pPr marL="457200" lvl="0" indent="-4572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rgbClr val="002060"/>
                </a:solidFill>
              </a:rPr>
              <a:t>Training Institutions: </a:t>
            </a:r>
            <a:r>
              <a:rPr lang="en-IN" sz="2800" dirty="0"/>
              <a:t>Difficulty aligning courses with industry skill requirements.</a:t>
            </a:r>
          </a:p>
          <a:p>
            <a:endParaRPr lang="en-IN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A29BA53-D2AB-5A2D-AEB3-C74764B64F5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9171599" y="377274"/>
            <a:ext cx="7886161" cy="6671226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467B440-114D-8973-5105-977E19DCAFB1}"/>
              </a:ext>
            </a:extLst>
          </p:cNvPr>
          <p:cNvSpPr/>
          <p:nvPr/>
        </p:nvSpPr>
        <p:spPr>
          <a:xfrm>
            <a:off x="9906000" y="7200900"/>
            <a:ext cx="7772400" cy="2753882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C60B0AA-5B33-6270-D871-5799AB54C721}"/>
              </a:ext>
            </a:extLst>
          </p:cNvPr>
          <p:cNvSpPr/>
          <p:nvPr/>
        </p:nvSpPr>
        <p:spPr>
          <a:xfrm>
            <a:off x="9601200" y="7171987"/>
            <a:ext cx="7685160" cy="3000713"/>
          </a:xfrm>
          <a:prstGeom prst="roundRect">
            <a:avLst>
              <a:gd name="adj" fmla="val 15784"/>
            </a:avLst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</a:endParaRPr>
          </a:p>
          <a:p>
            <a:pPr marL="342900" lvl="0" indent="-342900" algn="ctr">
              <a:buFont typeface="Wingdings" panose="05000000000000000000" pitchFamily="2" charset="2"/>
              <a:buChar char="ü"/>
            </a:pPr>
            <a:r>
              <a:rPr lang="en-IN" sz="2400" b="1" u="sng" dirty="0">
                <a:solidFill>
                  <a:srgbClr val="00B050"/>
                </a:solidFill>
              </a:rPr>
              <a:t> Supporting Facts </a:t>
            </a:r>
            <a:endParaRPr lang="en-IN" b="1" u="sng" dirty="0">
              <a:solidFill>
                <a:srgbClr val="00B050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28.4% — Graduate youth unemployment in India (2023). (ILO, 2024)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Nearly 2 in 5 — Technically qualified youth were overqualified for their jobs (2022). (ILO)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63% of employers — Cited skill gaps as a major barrier. (WEF, 2025)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39% of workers’ skills — Expected to change or become outdated by 2030. (WEF, 2025)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-1592116" y="371698"/>
            <a:ext cx="8831116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PROPOSED SOLUTION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529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0E1722-0EE2-5E02-961E-7453754B4768}"/>
              </a:ext>
            </a:extLst>
          </p:cNvPr>
          <p:cNvSpPr txBox="1"/>
          <p:nvPr/>
        </p:nvSpPr>
        <p:spPr>
          <a:xfrm>
            <a:off x="255295" y="1564367"/>
            <a:ext cx="921549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>
                <a:solidFill>
                  <a:srgbClr val="0070C0"/>
                </a:solidFill>
              </a:rPr>
              <a:t>RozgarLink</a:t>
            </a:r>
            <a:r>
              <a:rPr lang="en-IN" sz="2800" b="1" dirty="0">
                <a:solidFill>
                  <a:srgbClr val="002060"/>
                </a:solidFill>
              </a:rPr>
              <a:t> </a:t>
            </a:r>
            <a:r>
              <a:rPr lang="en-IN" sz="2400" b="1" dirty="0"/>
              <a:t>is a skill-based opportunity matching platform that checks mandatory eligibility first, matches equivalent skills beyond exact keywords, explains why candidates qualify or fail, and recommends skill-gap learning resources to connect people with suitable jobs and training opportunities.</a:t>
            </a:r>
          </a:p>
          <a:p>
            <a:endParaRPr lang="en-IN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B5143A-FFA2-794D-0F88-C4F963285F41}"/>
              </a:ext>
            </a:extLst>
          </p:cNvPr>
          <p:cNvSpPr txBox="1"/>
          <p:nvPr/>
        </p:nvSpPr>
        <p:spPr>
          <a:xfrm>
            <a:off x="255295" y="3543301"/>
            <a:ext cx="9422105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 err="1">
                <a:solidFill>
                  <a:srgbClr val="002060"/>
                </a:solidFill>
              </a:rPr>
              <a:t>RozgarLink</a:t>
            </a:r>
            <a:r>
              <a:rPr lang="en-IN" sz="3200" b="1" u="sng" dirty="0">
                <a:solidFill>
                  <a:srgbClr val="002060"/>
                </a:solidFill>
              </a:rPr>
              <a:t> – Core Features: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IN" sz="2400" b="1" dirty="0"/>
              <a:t>Smart Skill Matching – Matches similar skills beyond exact keywords.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IN" sz="2400" b="1" dirty="0"/>
              <a:t>Eligibility Verification – Checks mandatory requirements first.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IN" sz="2400" b="1" dirty="0"/>
              <a:t>Explainable Results – Shows why candidates qualify or fail.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IN" sz="2400" b="1" dirty="0"/>
              <a:t>Skill Gap Analysis – Identifies missing skills.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IN" sz="2400" b="1" dirty="0"/>
              <a:t>Learning Recommendations – Suggests relevant learning resources.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IN" sz="2400" b="1" dirty="0"/>
              <a:t>Dynamic Re-matching – Updates results when profiles change.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IN" sz="2400" b="1" dirty="0"/>
              <a:t>Opportunity Ranking – Ranks eligible opportunities by relevance.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BFAFA7-DC35-EF73-1E14-9BFBCE112BF0}"/>
              </a:ext>
            </a:extLst>
          </p:cNvPr>
          <p:cNvSpPr txBox="1"/>
          <p:nvPr/>
        </p:nvSpPr>
        <p:spPr>
          <a:xfrm>
            <a:off x="457200" y="8877300"/>
            <a:ext cx="8458200" cy="1692771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lvl="0">
              <a:buClr>
                <a:srgbClr val="002060"/>
              </a:buClr>
            </a:pPr>
            <a:r>
              <a:rPr lang="en-IN" sz="2400" b="1" u="sng" dirty="0">
                <a:solidFill>
                  <a:srgbClr val="002060"/>
                </a:solidFill>
              </a:rPr>
              <a:t>Other Features</a:t>
            </a:r>
          </a:p>
          <a:p>
            <a:pPr marL="285750" lvl="0" indent="-28575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sz="2000" b="1" dirty="0"/>
              <a:t>Verified Skill Profiles</a:t>
            </a:r>
          </a:p>
          <a:p>
            <a:pPr marL="285750" lvl="0" indent="-28575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sz="2000" b="1" dirty="0"/>
              <a:t>Fairness-Aware Ranking</a:t>
            </a:r>
          </a:p>
          <a:p>
            <a:pPr marL="285750" lvl="0" indent="-28575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sz="2000" b="1" dirty="0"/>
              <a:t>Alternative Career Paths</a:t>
            </a:r>
          </a:p>
          <a:p>
            <a:pPr marL="285750" lvl="0" indent="-285750">
              <a:buClr>
                <a:srgbClr val="002060"/>
              </a:buClr>
              <a:buFont typeface="Wingdings" panose="05000000000000000000" pitchFamily="2" charset="2"/>
              <a:buChar char="§"/>
            </a:pPr>
            <a:endParaRPr lang="en-IN" sz="2000" b="1" dirty="0"/>
          </a:p>
          <a:p>
            <a:pPr marL="285750" lvl="0" indent="-285750">
              <a:buClr>
                <a:srgbClr val="002060"/>
              </a:buClr>
              <a:buFont typeface="Wingdings" panose="05000000000000000000" pitchFamily="2" charset="2"/>
              <a:buChar char="§"/>
            </a:pPr>
            <a:endParaRPr lang="en-IN" sz="2000" b="1" dirty="0"/>
          </a:p>
          <a:p>
            <a:pPr marL="285750" lvl="0" indent="-28575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sz="2000" b="1" dirty="0"/>
              <a:t>Recruiter Feedback Loop</a:t>
            </a:r>
          </a:p>
          <a:p>
            <a:pPr marL="285750" lvl="0" indent="-28575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sz="2000" b="1" dirty="0"/>
              <a:t>Multi-Pathway Recommendations</a:t>
            </a:r>
          </a:p>
          <a:p>
            <a:pPr marL="285750" lvl="0" indent="-28575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en-IN" sz="2000" b="1" dirty="0"/>
              <a:t>Skill Demand Insights 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D326495-2ECD-5C5A-5800-CC60578EAC2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409700"/>
            <a:ext cx="11330628" cy="84979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-5469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285750"/>
            <a:ext cx="5986011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TECHNICAL APPROACH</a:t>
            </a:r>
          </a:p>
        </p:txBody>
      </p:sp>
      <p:sp>
        <p:nvSpPr>
          <p:cNvPr id="11" name="Freeform 11"/>
          <p:cNvSpPr/>
          <p:nvPr/>
        </p:nvSpPr>
        <p:spPr>
          <a:xfrm>
            <a:off x="257365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910EC1-F204-9BFC-BC9F-70CAFC3CFDF0}"/>
              </a:ext>
            </a:extLst>
          </p:cNvPr>
          <p:cNvSpPr txBox="1"/>
          <p:nvPr/>
        </p:nvSpPr>
        <p:spPr>
          <a:xfrm>
            <a:off x="257365" y="1409700"/>
            <a:ext cx="606723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solidFill>
                  <a:srgbClr val="002060"/>
                </a:solidFill>
              </a:rPr>
              <a:t>Tech Stack:</a:t>
            </a:r>
            <a:endParaRPr lang="en-IN" sz="2800" dirty="0"/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Frontend:</a:t>
            </a:r>
            <a:r>
              <a:rPr lang="en-IN" sz="2400" dirty="0"/>
              <a:t> TypeScript,React.js, JS, Tailwind CSS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Backend</a:t>
            </a:r>
            <a:r>
              <a:rPr lang="en-IN" sz="2400" dirty="0"/>
              <a:t>: Node.js, Express.js, </a:t>
            </a:r>
            <a:r>
              <a:rPr lang="en-IN" sz="2400" dirty="0" err="1"/>
              <a:t>NestJS</a:t>
            </a:r>
            <a:r>
              <a:rPr lang="en-IN" sz="2400" dirty="0"/>
              <a:t>, REST API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Database: </a:t>
            </a:r>
            <a:r>
              <a:rPr lang="en-IN" sz="2400" dirty="0"/>
              <a:t>PostgreSQL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Backend Services: </a:t>
            </a:r>
            <a:r>
              <a:rPr lang="en-IN" sz="2400" dirty="0" err="1"/>
              <a:t>Supabase</a:t>
            </a:r>
            <a:endParaRPr lang="en-IN" sz="2400" dirty="0"/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Authentication: </a:t>
            </a:r>
            <a:r>
              <a:rPr lang="en-IN" sz="2400" dirty="0"/>
              <a:t>JWT, </a:t>
            </a:r>
            <a:r>
              <a:rPr lang="en-IN" sz="2400" dirty="0" err="1"/>
              <a:t>Supabase</a:t>
            </a:r>
            <a:r>
              <a:rPr lang="en-IN" sz="2400" dirty="0"/>
              <a:t> Auth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Server &amp; Hosting: </a:t>
            </a:r>
            <a:r>
              <a:rPr lang="en-IN" sz="2400" dirty="0"/>
              <a:t>Docker, </a:t>
            </a:r>
            <a:r>
              <a:rPr lang="en-IN" sz="2400" dirty="0" err="1"/>
              <a:t>Vercel</a:t>
            </a:r>
            <a:endParaRPr lang="en-IN" sz="2400" dirty="0"/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Storage: </a:t>
            </a:r>
            <a:r>
              <a:rPr lang="en-IN" sz="2400" dirty="0" err="1"/>
              <a:t>Supabase</a:t>
            </a:r>
            <a:r>
              <a:rPr lang="en-IN" sz="2400" dirty="0"/>
              <a:t> Storage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DevOps:</a:t>
            </a:r>
            <a:r>
              <a:rPr lang="en-IN" sz="2400" dirty="0"/>
              <a:t> GitHub Actions, CI/CD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400" b="1" dirty="0"/>
              <a:t>Voice API: </a:t>
            </a:r>
            <a:r>
              <a:rPr lang="en-IN" sz="2400" dirty="0" err="1"/>
              <a:t>ElevenLabs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6BC6971-FDB2-B63E-8A29-90F3F8299A8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663" y="5893377"/>
            <a:ext cx="7062064" cy="39745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561385-96AD-F1A9-9BA5-3F04031300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769" y="1562100"/>
            <a:ext cx="7804363" cy="881628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E402C1F-513F-C575-6351-24B4939FA87A}"/>
              </a:ext>
            </a:extLst>
          </p:cNvPr>
          <p:cNvSpPr txBox="1"/>
          <p:nvPr/>
        </p:nvSpPr>
        <p:spPr>
          <a:xfrm>
            <a:off x="8642248" y="1296769"/>
            <a:ext cx="6521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solidFill>
                  <a:srgbClr val="002060"/>
                </a:solidFill>
              </a:rPr>
              <a:t>System Architecture: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750048" cy="9860652"/>
          </a:xfrm>
          <a:custGeom>
            <a:avLst/>
            <a:gdLst/>
            <a:ahLst/>
            <a:cxnLst/>
            <a:rect l="l" t="t" r="r" b="b"/>
            <a:pathLst>
              <a:path w="1750048" h="9860652">
                <a:moveTo>
                  <a:pt x="0" y="0"/>
                </a:moveTo>
                <a:lnTo>
                  <a:pt x="1750048" y="0"/>
                </a:lnTo>
                <a:lnTo>
                  <a:pt x="1750048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7046873"/>
            <a:ext cx="1312536" cy="3432644"/>
          </a:xfrm>
          <a:custGeom>
            <a:avLst/>
            <a:gdLst/>
            <a:ahLst/>
            <a:cxnLst/>
            <a:rect l="l" t="t" r="r" b="b"/>
            <a:pathLst>
              <a:path w="1312536" h="3432644">
                <a:moveTo>
                  <a:pt x="0" y="0"/>
                </a:moveTo>
                <a:lnTo>
                  <a:pt x="1312536" y="0"/>
                </a:lnTo>
                <a:lnTo>
                  <a:pt x="1312536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3059732" y="5455062"/>
            <a:ext cx="5228268" cy="4848336"/>
            <a:chOff x="0" y="0"/>
            <a:chExt cx="6971024" cy="6464448"/>
          </a:xfrm>
        </p:grpSpPr>
        <p:sp>
          <p:nvSpPr>
            <p:cNvPr id="6" name="Freeform 6"/>
            <p:cNvSpPr/>
            <p:nvPr/>
          </p:nvSpPr>
          <p:spPr>
            <a:xfrm>
              <a:off x="1735464" y="1574206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2122415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74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5220976" y="0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4862945" y="2122415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7" y="0"/>
                  </a:lnTo>
                  <a:lnTo>
                    <a:pt x="1472957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285750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FEASIBILITY AND VIABILITY</a:t>
            </a:r>
          </a:p>
        </p:txBody>
      </p:sp>
      <p:sp>
        <p:nvSpPr>
          <p:cNvPr id="11" name="Freeform 11"/>
          <p:cNvSpPr/>
          <p:nvPr/>
        </p:nvSpPr>
        <p:spPr>
          <a:xfrm>
            <a:off x="334880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50" y="0"/>
                </a:lnTo>
                <a:lnTo>
                  <a:pt x="5020450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FEF76C-7263-1A53-AD20-82AC5711E7C1}"/>
              </a:ext>
            </a:extLst>
          </p:cNvPr>
          <p:cNvSpPr txBox="1"/>
          <p:nvPr/>
        </p:nvSpPr>
        <p:spPr>
          <a:xfrm>
            <a:off x="533400" y="1570553"/>
            <a:ext cx="7321566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002060"/>
                </a:solidFill>
              </a:rPr>
              <a:t>    Feasibility</a:t>
            </a:r>
          </a:p>
          <a:p>
            <a:pPr marL="342900" lvl="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IN" sz="2400" dirty="0"/>
              <a:t>Built using React, Node.js, PostgreSQL and </a:t>
            </a:r>
            <a:r>
              <a:rPr lang="en-IN" sz="2400" dirty="0" err="1"/>
              <a:t>Supabase</a:t>
            </a:r>
            <a:r>
              <a:rPr lang="en-IN" sz="2400" dirty="0"/>
              <a:t>.</a:t>
            </a:r>
          </a:p>
          <a:p>
            <a:pPr marL="342900" lvl="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IN" sz="2400" dirty="0"/>
              <a:t>Rule-based eligibility checks; NLP-based skill matching.</a:t>
            </a:r>
          </a:p>
          <a:p>
            <a:pPr marL="342900" lvl="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IN" sz="2400" dirty="0"/>
              <a:t>MVP possible with sample data and curated learning resources.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FC4457-AC45-FF2C-8A53-5AB1D08D28B2}"/>
              </a:ext>
            </a:extLst>
          </p:cNvPr>
          <p:cNvSpPr txBox="1"/>
          <p:nvPr/>
        </p:nvSpPr>
        <p:spPr>
          <a:xfrm>
            <a:off x="381000" y="3763447"/>
            <a:ext cx="85344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002060"/>
                </a:solidFill>
              </a:rPr>
              <a:t>       Viability</a:t>
            </a:r>
          </a:p>
          <a:p>
            <a:pPr marL="285750" lvl="0" indent="-285750">
              <a:buClr>
                <a:srgbClr val="002060"/>
              </a:buClr>
              <a:buSzPct val="104000"/>
              <a:buFont typeface="Arial" panose="020B0604020202020204" pitchFamily="34" charset="0"/>
              <a:buChar char="•"/>
            </a:pPr>
            <a:r>
              <a:rPr lang="en-IN" sz="2400" b="1" dirty="0"/>
              <a:t>Growing Demand: </a:t>
            </a:r>
            <a:r>
              <a:rPr lang="en-IN" sz="2400" dirty="0"/>
              <a:t>Increasing skill gaps create a need     for smarter job matching.</a:t>
            </a:r>
          </a:p>
          <a:p>
            <a:pPr marL="285750" lvl="0" indent="-285750">
              <a:buClr>
                <a:srgbClr val="002060"/>
              </a:buClr>
              <a:buSzPct val="104000"/>
              <a:buFont typeface="Arial" panose="020B0604020202020204" pitchFamily="34" charset="0"/>
              <a:buChar char="•"/>
            </a:pPr>
            <a:r>
              <a:rPr lang="en-IN" sz="2400" b="1" dirty="0"/>
              <a:t>Existing Ecosystem:</a:t>
            </a:r>
            <a:r>
              <a:rPr lang="en-IN" sz="2400" dirty="0"/>
              <a:t> Can integrate with colleges, employers and employment services.</a:t>
            </a:r>
          </a:p>
          <a:p>
            <a:pPr marL="285750" lvl="0" indent="-285750">
              <a:buClr>
                <a:srgbClr val="002060"/>
              </a:buClr>
              <a:buSzPct val="104000"/>
              <a:buFont typeface="Arial" panose="020B0604020202020204" pitchFamily="34" charset="0"/>
              <a:buChar char="•"/>
            </a:pPr>
            <a:r>
              <a:rPr lang="en-IN" sz="2400" b="1" dirty="0"/>
              <a:t>Scalable Platform: </a:t>
            </a:r>
            <a:r>
              <a:rPr lang="en-IN" sz="2400" dirty="0"/>
              <a:t>Can expand across industries, locations and skill levels.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4D8CBD-9C3C-D877-6612-D7C421150C9C}"/>
              </a:ext>
            </a:extLst>
          </p:cNvPr>
          <p:cNvSpPr txBox="1"/>
          <p:nvPr/>
        </p:nvSpPr>
        <p:spPr>
          <a:xfrm>
            <a:off x="381000" y="6618169"/>
            <a:ext cx="91440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002060"/>
                </a:solidFill>
              </a:rPr>
              <a:t>      Business Opportunities</a:t>
            </a:r>
          </a:p>
          <a:p>
            <a:pPr marL="342900" lvl="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IN" sz="2400" b="1" dirty="0"/>
              <a:t>Recruitment SaaS: </a:t>
            </a:r>
            <a:r>
              <a:rPr lang="en-IN" sz="2400" dirty="0"/>
              <a:t>Smart hiring tools for employers.</a:t>
            </a:r>
          </a:p>
          <a:p>
            <a:pPr marL="342900" lvl="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IN" sz="2400" b="1" dirty="0"/>
              <a:t>College Placements: </a:t>
            </a:r>
            <a:r>
              <a:rPr lang="en-IN" sz="2400" dirty="0"/>
              <a:t>Student placement and skill analytics.</a:t>
            </a:r>
          </a:p>
          <a:p>
            <a:pPr marL="342900" lvl="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IN" sz="2400" b="1" dirty="0"/>
              <a:t>Government Contracts: </a:t>
            </a:r>
            <a:r>
              <a:rPr lang="en-IN" sz="2400" dirty="0"/>
              <a:t>Public employment-matching systems.</a:t>
            </a:r>
          </a:p>
          <a:p>
            <a:pPr marL="342900" lvl="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IN" sz="2400" b="1" dirty="0"/>
              <a:t>Training Partnerships: </a:t>
            </a:r>
            <a:r>
              <a:rPr lang="en-IN" sz="2400" dirty="0"/>
              <a:t>Connect users with relevant courses.</a:t>
            </a:r>
          </a:p>
          <a:p>
            <a:pPr marL="342900" lvl="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IN" sz="2400" b="1" dirty="0"/>
              <a:t>Premium Dashboards: </a:t>
            </a:r>
            <a:r>
              <a:rPr lang="en-IN" sz="2400" dirty="0"/>
              <a:t>Candidate rankings and skill-demand insights.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3BE472-C637-4E05-E075-7549657EA184}"/>
              </a:ext>
            </a:extLst>
          </p:cNvPr>
          <p:cNvSpPr/>
          <p:nvPr/>
        </p:nvSpPr>
        <p:spPr>
          <a:xfrm>
            <a:off x="9753600" y="6819900"/>
            <a:ext cx="7831464" cy="335280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 w="57150">
            <a:solidFill>
              <a:srgbClr val="00B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ü"/>
            </a:pPr>
            <a:r>
              <a:rPr lang="en-IN" sz="3200" b="1" u="sng" dirty="0">
                <a:solidFill>
                  <a:srgbClr val="00B050"/>
                </a:solidFill>
              </a:rPr>
              <a:t>Supporting Facts: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 63% of employers identify skill gaps as a major barrier to business    transformation. (WEF, 2025)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 3.43 crore vacancies were mobilised through India's National Career Service portal in FY 2025–26. (Government of India, 2026)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 1.5 crore+ candidates have registered on Skill India Digital Hub. (Government of India, 2026)</a:t>
            </a:r>
          </a:p>
          <a:p>
            <a:pPr marL="457200" indent="-457200">
              <a:buClr>
                <a:srgbClr val="002060"/>
              </a:buClr>
              <a:buFont typeface="+mj-lt"/>
              <a:buAutoNum type="arabicPeriod"/>
            </a:pPr>
            <a:r>
              <a:rPr lang="en-IN" sz="2000" b="1" dirty="0">
                <a:solidFill>
                  <a:srgbClr val="002060"/>
                </a:solidFill>
              </a:rPr>
              <a:t> 39% of workers’ skills are expected to change or become outdated by 2030. (WEF, 2025)</a:t>
            </a:r>
          </a:p>
          <a:p>
            <a:pPr algn="ctr"/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6681DEF-70CC-EDE8-C452-C99B1C7993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9946" y="-266700"/>
            <a:ext cx="5672582" cy="756344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1152F2-8BAC-AEE2-197C-314358AF5E5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9323" t="14095" r="19111" b="14592"/>
          <a:stretch>
            <a:fillRect/>
          </a:stretch>
        </p:blipFill>
        <p:spPr>
          <a:xfrm>
            <a:off x="13106400" y="2324100"/>
            <a:ext cx="657159" cy="533400"/>
          </a:xfrm>
          <a:prstGeom prst="rect">
            <a:avLst/>
          </a:prstGeom>
        </p:spPr>
      </p:pic>
      <p:pic>
        <p:nvPicPr>
          <p:cNvPr id="24" name="Picture 23" descr="Profit Money Icon PNG Free Download | 100% Free PNG">
            <a:extLst>
              <a:ext uri="{FF2B5EF4-FFF2-40B4-BE49-F238E27FC236}">
                <a16:creationId xmlns:a16="http://schemas.microsoft.com/office/drawing/2014/main" id="{5D635247-5195-CA40-6AEC-23D46E5B690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" y="6578065"/>
            <a:ext cx="609599" cy="46880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6062B6B-58F6-AC69-9754-0E293D59218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3662897"/>
            <a:ext cx="492299" cy="50277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F0ACADE-0BF7-0F55-57A0-A3A9DA81D6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4801" y="1409701"/>
            <a:ext cx="609599" cy="6095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-529376" y="285750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IMPACT AND BENEFITS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818887-904B-FE47-0BB4-4B5B47771A0B}"/>
              </a:ext>
            </a:extLst>
          </p:cNvPr>
          <p:cNvSpPr txBox="1"/>
          <p:nvPr/>
        </p:nvSpPr>
        <p:spPr>
          <a:xfrm>
            <a:off x="9512209" y="930578"/>
            <a:ext cx="8788491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u="sng" dirty="0">
                <a:solidFill>
                  <a:srgbClr val="002060"/>
                </a:solidFill>
              </a:rPr>
              <a:t>Impact on Target Audience</a:t>
            </a:r>
          </a:p>
          <a:p>
            <a:pPr lvl="0"/>
            <a:r>
              <a:rPr lang="en-IN" sz="2400" b="1" dirty="0"/>
              <a:t>Job Seekers: </a:t>
            </a:r>
            <a:r>
              <a:rPr lang="en-IN" sz="2400" dirty="0"/>
              <a:t>Better job matching and career readiness.</a:t>
            </a:r>
          </a:p>
          <a:p>
            <a:pPr lvl="0"/>
            <a:r>
              <a:rPr lang="en-IN" sz="2400" b="1" dirty="0"/>
              <a:t>Employers: </a:t>
            </a:r>
            <a:r>
              <a:rPr lang="en-IN" sz="2400" dirty="0"/>
              <a:t>Faster hiring and fewer irrelevant applications.</a:t>
            </a:r>
          </a:p>
          <a:p>
            <a:pPr lvl="0"/>
            <a:r>
              <a:rPr lang="en-IN" sz="2400" b="1" dirty="0"/>
              <a:t>Colleges: </a:t>
            </a:r>
            <a:r>
              <a:rPr lang="en-IN" sz="2400" dirty="0"/>
              <a:t>Improved placement outcomes and skill-gap insights.</a:t>
            </a:r>
          </a:p>
          <a:p>
            <a:pPr lvl="0"/>
            <a:r>
              <a:rPr lang="en-IN" sz="2400" b="1" dirty="0"/>
              <a:t>Training Institutes: </a:t>
            </a:r>
            <a:r>
              <a:rPr lang="en-IN" sz="2400" dirty="0"/>
              <a:t>Training aligned with industry requirements.</a:t>
            </a:r>
          </a:p>
          <a:p>
            <a:pPr lvl="0"/>
            <a:r>
              <a:rPr lang="en-IN" sz="2400" b="1" dirty="0"/>
              <a:t>Government: </a:t>
            </a:r>
            <a:r>
              <a:rPr lang="en-IN" sz="2400" dirty="0"/>
              <a:t>Better access to employment opportunities.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40AABD-6474-BF0E-8E8A-034D046041D0}"/>
              </a:ext>
            </a:extLst>
          </p:cNvPr>
          <p:cNvSpPr txBox="1"/>
          <p:nvPr/>
        </p:nvSpPr>
        <p:spPr>
          <a:xfrm>
            <a:off x="9601200" y="3414772"/>
            <a:ext cx="782946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u="sng" dirty="0">
                <a:solidFill>
                  <a:srgbClr val="002060"/>
                </a:solidFill>
              </a:rPr>
              <a:t>Benefits of the Solution</a:t>
            </a:r>
          </a:p>
          <a:p>
            <a:r>
              <a:rPr lang="en-IN" sz="2400" b="1" u="sng" dirty="0">
                <a:solidFill>
                  <a:srgbClr val="002060"/>
                </a:solidFill>
              </a:rPr>
              <a:t>Social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More accessible and transparent job matching.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Clear eligibility and skill-gap explanations.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IN" sz="2400" b="1" u="sng" dirty="0">
                <a:solidFill>
                  <a:srgbClr val="002060"/>
                </a:solidFill>
              </a:rPr>
              <a:t>Economic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Reduced recruitment screening effort.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Better use of hiring resources.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IN" sz="2400" b="1" u="sng" dirty="0">
                <a:solidFill>
                  <a:srgbClr val="002060"/>
                </a:solidFill>
              </a:rPr>
              <a:t>Educational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Targeted skill-development recommendations.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Improved job readiness for students.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sz="2400" b="1" u="sng" dirty="0">
                <a:solidFill>
                  <a:srgbClr val="002060"/>
                </a:solidFill>
              </a:rPr>
              <a:t>Technological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Semantic skill matching beyond keywords.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Explainable, eligibility-first rankings.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IN" sz="2400" b="1" u="sng" dirty="0">
                <a:solidFill>
                  <a:srgbClr val="002060"/>
                </a:solidFill>
              </a:rPr>
              <a:t>Institutional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Insights into common skill gaps.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Better alignment between training and job requirements.</a:t>
            </a:r>
          </a:p>
          <a:p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7D6834-1601-8520-7881-95A375EB00D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2122"/>
            <a:ext cx="9473393" cy="92605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479517"/>
            <a:chOff x="0" y="0"/>
            <a:chExt cx="24384000" cy="139726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33397" cy="13147537"/>
            </a:xfrm>
            <a:custGeom>
              <a:avLst/>
              <a:gdLst/>
              <a:ahLst/>
              <a:cxnLst/>
              <a:rect l="l" t="t" r="r" b="b"/>
              <a:pathLst>
                <a:path w="2333397" h="13147537">
                  <a:moveTo>
                    <a:pt x="0" y="0"/>
                  </a:moveTo>
                  <a:lnTo>
                    <a:pt x="2333397" y="0"/>
                  </a:lnTo>
                  <a:lnTo>
                    <a:pt x="2333397" y="13147537"/>
                  </a:lnTo>
                  <a:lnTo>
                    <a:pt x="0" y="13147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9148440" y="8847622"/>
              <a:ext cx="2333397" cy="2303005"/>
            </a:xfrm>
            <a:custGeom>
              <a:avLst/>
              <a:gdLst/>
              <a:ahLst/>
              <a:cxnLst/>
              <a:rect l="l" t="t" r="r" b="b"/>
              <a:pathLst>
                <a:path w="2333397" h="2303005">
                  <a:moveTo>
                    <a:pt x="0" y="0"/>
                  </a:moveTo>
                  <a:lnTo>
                    <a:pt x="2333397" y="0"/>
                  </a:lnTo>
                  <a:lnTo>
                    <a:pt x="2333397" y="2303005"/>
                  </a:lnTo>
                  <a:lnTo>
                    <a:pt x="0" y="2303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17412976" y="9395831"/>
              <a:ext cx="6971024" cy="4342033"/>
            </a:xfrm>
            <a:custGeom>
              <a:avLst/>
              <a:gdLst/>
              <a:ahLst/>
              <a:cxnLst/>
              <a:rect l="l" t="t" r="r" b="b"/>
              <a:pathLst>
                <a:path w="6971024" h="4342033">
                  <a:moveTo>
                    <a:pt x="0" y="0"/>
                  </a:moveTo>
                  <a:lnTo>
                    <a:pt x="6971024" y="0"/>
                  </a:lnTo>
                  <a:lnTo>
                    <a:pt x="6971024" y="4342033"/>
                  </a:lnTo>
                  <a:lnTo>
                    <a:pt x="0" y="4342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74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9395831"/>
              <a:ext cx="1750048" cy="4576859"/>
            </a:xfrm>
            <a:custGeom>
              <a:avLst/>
              <a:gdLst/>
              <a:ahLst/>
              <a:cxnLst/>
              <a:rect l="l" t="t" r="r" b="b"/>
              <a:pathLst>
                <a:path w="1750048" h="4576859">
                  <a:moveTo>
                    <a:pt x="0" y="0"/>
                  </a:moveTo>
                  <a:lnTo>
                    <a:pt x="1750048" y="0"/>
                  </a:lnTo>
                  <a:lnTo>
                    <a:pt x="1750048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633952" y="7273416"/>
              <a:ext cx="1750048" cy="5451418"/>
            </a:xfrm>
            <a:custGeom>
              <a:avLst/>
              <a:gdLst/>
              <a:ahLst/>
              <a:cxnLst/>
              <a:rect l="l" t="t" r="r" b="b"/>
              <a:pathLst>
                <a:path w="1750048" h="5451418">
                  <a:moveTo>
                    <a:pt x="0" y="0"/>
                  </a:moveTo>
                  <a:lnTo>
                    <a:pt x="1750048" y="0"/>
                  </a:lnTo>
                  <a:lnTo>
                    <a:pt x="1750048" y="5451417"/>
                  </a:lnTo>
                  <a:lnTo>
                    <a:pt x="0" y="5451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2275922" y="9395831"/>
              <a:ext cx="1472957" cy="3162988"/>
            </a:xfrm>
            <a:custGeom>
              <a:avLst/>
              <a:gdLst/>
              <a:ahLst/>
              <a:cxnLst/>
              <a:rect l="l" t="t" r="r" b="b"/>
              <a:pathLst>
                <a:path w="1472957" h="3162988">
                  <a:moveTo>
                    <a:pt x="0" y="0"/>
                  </a:moveTo>
                  <a:lnTo>
                    <a:pt x="1472956" y="0"/>
                  </a:lnTo>
                  <a:lnTo>
                    <a:pt x="1472956" y="3162988"/>
                  </a:lnTo>
                  <a:lnTo>
                    <a:pt x="0" y="3162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-1221244" y="361950"/>
            <a:ext cx="732156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150" dirty="0">
                <a:solidFill>
                  <a:srgbClr val="172243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DIFFERENTIATOR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5509" y="1028700"/>
            <a:ext cx="5020450" cy="535667"/>
          </a:xfrm>
          <a:custGeom>
            <a:avLst/>
            <a:gdLst/>
            <a:ahLst/>
            <a:cxnLst/>
            <a:rect l="l" t="t" r="r" b="b"/>
            <a:pathLst>
              <a:path w="5020450" h="535667">
                <a:moveTo>
                  <a:pt x="0" y="0"/>
                </a:moveTo>
                <a:lnTo>
                  <a:pt x="5020449" y="0"/>
                </a:lnTo>
                <a:lnTo>
                  <a:pt x="5020449" y="535667"/>
                </a:lnTo>
                <a:lnTo>
                  <a:pt x="0" y="5356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250" r="-1125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13923818" y="2160727"/>
            <a:ext cx="4364182" cy="2153601"/>
          </a:xfrm>
          <a:custGeom>
            <a:avLst/>
            <a:gdLst/>
            <a:ahLst/>
            <a:cxnLst/>
            <a:rect l="l" t="t" r="r" b="b"/>
            <a:pathLst>
              <a:path w="4364182" h="2153601">
                <a:moveTo>
                  <a:pt x="0" y="0"/>
                </a:moveTo>
                <a:lnTo>
                  <a:pt x="4364182" y="0"/>
                </a:lnTo>
                <a:lnTo>
                  <a:pt x="436418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8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6E39B73-9AFC-D12D-CC20-869FFCA23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102710"/>
              </p:ext>
            </p:extLst>
          </p:nvPr>
        </p:nvGraphicFramePr>
        <p:xfrm>
          <a:off x="228600" y="1638300"/>
          <a:ext cx="8915400" cy="79174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160544895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2796829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913391629"/>
                    </a:ext>
                  </a:extLst>
                </a:gridCol>
              </a:tblGrid>
              <a:tr h="810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200" b="1" dirty="0" err="1">
                          <a:solidFill>
                            <a:srgbClr val="0070C0"/>
                          </a:solidFill>
                        </a:rPr>
                        <a:t>RozgarLink</a:t>
                      </a:r>
                      <a:endParaRPr lang="en-IN" sz="32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Traditional Job Platforms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8597816"/>
                  </a:ext>
                </a:extLst>
              </a:tr>
              <a:tr h="810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Jobs &amp; Internships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5257143"/>
                  </a:ext>
                </a:extLst>
              </a:tr>
              <a:tr h="810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Eligibility-First 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Partial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145074"/>
                  </a:ext>
                </a:extLst>
              </a:tr>
              <a:tr h="810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Semantic Skill 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Partial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857207"/>
                  </a:ext>
                </a:extLst>
              </a:tr>
              <a:tr h="810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Skill-Gap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Partial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1010551"/>
                  </a:ext>
                </a:extLst>
              </a:tr>
              <a:tr h="810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Explainable Match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Partial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800985"/>
                  </a:ext>
                </a:extLst>
              </a:tr>
              <a:tr h="1418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Personalized Learning Recommendations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Partial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739899"/>
                  </a:ext>
                </a:extLst>
              </a:tr>
              <a:tr h="810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Dynamic Re-Matching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Partial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671261"/>
                  </a:ext>
                </a:extLst>
              </a:tr>
              <a:tr h="810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Institution Skill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B050"/>
                          </a:solidFill>
                        </a:rPr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Partial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81518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06B0E2E-5B7E-A38B-F733-83D1312943AD}"/>
              </a:ext>
            </a:extLst>
          </p:cNvPr>
          <p:cNvSpPr txBox="1"/>
          <p:nvPr/>
        </p:nvSpPr>
        <p:spPr>
          <a:xfrm>
            <a:off x="9677400" y="6623090"/>
            <a:ext cx="729806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chemeClr val="tx2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Research Resources</a:t>
            </a:r>
            <a:endParaRPr lang="en-IN" dirty="0">
              <a:solidFill>
                <a:srgbClr val="0000FF"/>
              </a:solidFill>
              <a:hlinkClick r:id="rId1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FF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https://www.weforum.org/publications/the-future-of-jobs-report-2025/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hlinkClick r:id="rId13"/>
              </a:rPr>
              <a:t>https://www.ilo.org/publications/india-employment-report-2024-youth-employment-education-and-skills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hlinkClick r:id="rId14"/>
              </a:rPr>
              <a:t>https://www.skillindiadigital.gov.in/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hlinkClick r:id="rId15"/>
              </a:rPr>
              <a:t>https://www.ncs.gov.in/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hlinkClick r:id="rId16"/>
              </a:rPr>
              <a:t>https://www.weforum.org/stories/all/the-future-of-jobs-in-india-employers-seek-to-boost-tech-talent-to-drive-ai-and-digital-technology-growth/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7" name="Picture 16" descr="Transparent laptop logo Images - Free Download on Magnific (formerly  Freepik)">
            <a:extLst>
              <a:ext uri="{FF2B5EF4-FFF2-40B4-BE49-F238E27FC236}">
                <a16:creationId xmlns:a16="http://schemas.microsoft.com/office/drawing/2014/main" id="{5965CBB5-5D46-FFD6-246C-D89A33B896FB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 flipH="1">
            <a:off x="1312536" y="9697653"/>
            <a:ext cx="518518" cy="5185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B5708A2-DA5B-EABC-8FF7-E7FD83F82364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20038" b="9912"/>
          <a:stretch>
            <a:fillRect/>
          </a:stretch>
        </p:blipFill>
        <p:spPr>
          <a:xfrm>
            <a:off x="9143999" y="1929577"/>
            <a:ext cx="8957741" cy="47061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14C2DD4-751A-BAAB-8BA8-CED027867B95}"/>
              </a:ext>
            </a:extLst>
          </p:cNvPr>
          <p:cNvSpPr txBox="1"/>
          <p:nvPr/>
        </p:nvSpPr>
        <p:spPr>
          <a:xfrm>
            <a:off x="1974395" y="9721797"/>
            <a:ext cx="1043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Live Demo: </a:t>
            </a:r>
            <a:r>
              <a:rPr lang="en-IN" sz="2400" b="1" dirty="0">
                <a:hlinkClick r:id="rId19"/>
              </a:rPr>
              <a:t>https://rozgarsathi.vercel.app/</a:t>
            </a:r>
            <a:endParaRPr lang="en-IN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4711687"/>
            <a:ext cx="6540804" cy="5148966"/>
          </a:xfrm>
          <a:custGeom>
            <a:avLst/>
            <a:gdLst/>
            <a:ahLst/>
            <a:cxnLst/>
            <a:rect l="l" t="t" r="r" b="b"/>
            <a:pathLst>
              <a:path w="6540804" h="5148966">
                <a:moveTo>
                  <a:pt x="0" y="0"/>
                </a:moveTo>
                <a:lnTo>
                  <a:pt x="6540804" y="0"/>
                </a:lnTo>
                <a:lnTo>
                  <a:pt x="6540804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7175196" y="6854356"/>
            <a:ext cx="4364182" cy="3006296"/>
          </a:xfrm>
          <a:custGeom>
            <a:avLst/>
            <a:gdLst/>
            <a:ahLst/>
            <a:cxnLst/>
            <a:rect l="l" t="t" r="r" b="b"/>
            <a:pathLst>
              <a:path w="4364182" h="3006296">
                <a:moveTo>
                  <a:pt x="0" y="0"/>
                </a:moveTo>
                <a:lnTo>
                  <a:pt x="4364182" y="0"/>
                </a:lnTo>
                <a:lnTo>
                  <a:pt x="436418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9789330" y="7499343"/>
            <a:ext cx="8498670" cy="2361309"/>
          </a:xfrm>
          <a:custGeom>
            <a:avLst/>
            <a:gdLst/>
            <a:ahLst/>
            <a:cxnLst/>
            <a:rect l="l" t="t" r="r" b="b"/>
            <a:pathLst>
              <a:path w="8498670" h="2361309">
                <a:moveTo>
                  <a:pt x="0" y="0"/>
                </a:moveTo>
                <a:lnTo>
                  <a:pt x="8498670" y="0"/>
                </a:lnTo>
                <a:lnTo>
                  <a:pt x="8498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0" y="7280704"/>
            <a:ext cx="16986402" cy="2798589"/>
          </a:xfrm>
          <a:custGeom>
            <a:avLst/>
            <a:gdLst/>
            <a:ahLst/>
            <a:cxnLst/>
            <a:rect l="l" t="t" r="r" b="b"/>
            <a:pathLst>
              <a:path w="16986402" h="2798589">
                <a:moveTo>
                  <a:pt x="0" y="0"/>
                </a:moveTo>
                <a:lnTo>
                  <a:pt x="16986402" y="0"/>
                </a:lnTo>
                <a:lnTo>
                  <a:pt x="1698640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301598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2176622" y="5990729"/>
            <a:ext cx="1531292" cy="4088563"/>
          </a:xfrm>
          <a:custGeom>
            <a:avLst/>
            <a:gdLst/>
            <a:ahLst/>
            <a:cxnLst/>
            <a:rect l="l" t="t" r="r" b="b"/>
            <a:pathLst>
              <a:path w="1531292" h="4088563">
                <a:moveTo>
                  <a:pt x="0" y="0"/>
                </a:moveTo>
                <a:lnTo>
                  <a:pt x="1531292" y="0"/>
                </a:lnTo>
                <a:lnTo>
                  <a:pt x="1531292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2840976" y="6635716"/>
            <a:ext cx="1312536" cy="3443576"/>
          </a:xfrm>
          <a:custGeom>
            <a:avLst/>
            <a:gdLst/>
            <a:ahLst/>
            <a:cxnLst/>
            <a:rect l="l" t="t" r="r" b="b"/>
            <a:pathLst>
              <a:path w="1312536" h="3443576">
                <a:moveTo>
                  <a:pt x="0" y="0"/>
                </a:moveTo>
                <a:lnTo>
                  <a:pt x="1312536" y="0"/>
                </a:lnTo>
                <a:lnTo>
                  <a:pt x="131253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3923818" y="7280704"/>
            <a:ext cx="1104718" cy="2579949"/>
          </a:xfrm>
          <a:custGeom>
            <a:avLst/>
            <a:gdLst/>
            <a:ahLst/>
            <a:cxnLst/>
            <a:rect l="l" t="t" r="r" b="b"/>
            <a:pathLst>
              <a:path w="1104718" h="2579949">
                <a:moveTo>
                  <a:pt x="0" y="0"/>
                </a:moveTo>
                <a:lnTo>
                  <a:pt x="1104718" y="0"/>
                </a:lnTo>
                <a:lnTo>
                  <a:pt x="110471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0" y="9423373"/>
            <a:ext cx="18288000" cy="863627"/>
          </a:xfrm>
          <a:custGeom>
            <a:avLst/>
            <a:gdLst/>
            <a:ahLst/>
            <a:cxnLst/>
            <a:rect l="l" t="t" r="r" b="b"/>
            <a:pathLst>
              <a:path w="18288000" h="863627">
                <a:moveTo>
                  <a:pt x="0" y="0"/>
                </a:moveTo>
                <a:lnTo>
                  <a:pt x="18288000" y="0"/>
                </a:lnTo>
                <a:lnTo>
                  <a:pt x="1828800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5663020" y="3238633"/>
            <a:ext cx="6961960" cy="222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29"/>
              </a:lnSpc>
            </a:pPr>
            <a:r>
              <a:rPr lang="en-US" sz="14129" b="1" spc="282">
                <a:solidFill>
                  <a:srgbClr val="141D40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THANK YOU!</a:t>
            </a:r>
          </a:p>
        </p:txBody>
      </p:sp>
      <p:sp>
        <p:nvSpPr>
          <p:cNvPr id="13" name="Freeform 13"/>
          <p:cNvSpPr/>
          <p:nvPr/>
        </p:nvSpPr>
        <p:spPr>
          <a:xfrm>
            <a:off x="3259464" y="5459607"/>
            <a:ext cx="11769072" cy="218640"/>
          </a:xfrm>
          <a:custGeom>
            <a:avLst/>
            <a:gdLst/>
            <a:ahLst/>
            <a:cxnLst/>
            <a:rect l="l" t="t" r="r" b="b"/>
            <a:pathLst>
              <a:path w="11769072" h="218640">
                <a:moveTo>
                  <a:pt x="0" y="0"/>
                </a:moveTo>
                <a:lnTo>
                  <a:pt x="11769072" y="0"/>
                </a:lnTo>
                <a:lnTo>
                  <a:pt x="1176907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7517132" y="5877000"/>
            <a:ext cx="3296956" cy="87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323F9D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VORTEXA 3.0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81401" y="7052188"/>
            <a:ext cx="1168417" cy="86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5554" b="1" spc="276">
                <a:solidFill>
                  <a:srgbClr val="ED8076"/>
                </a:solidFill>
                <a:latin typeface="Heading Now 31-38 Bold"/>
                <a:ea typeface="Heading Now 31-38 Bold"/>
                <a:cs typeface="Heading Now 31-38 Bold"/>
                <a:sym typeface="Heading Now 31-38 Bold"/>
              </a:rPr>
              <a:t>AIRS</a:t>
            </a:r>
          </a:p>
        </p:txBody>
      </p:sp>
      <p:sp>
        <p:nvSpPr>
          <p:cNvPr id="16" name="TextBox 16"/>
          <p:cNvSpPr txBox="1"/>
          <p:nvPr/>
        </p:nvSpPr>
        <p:spPr>
          <a:xfrm rot="-769921">
            <a:off x="15555796" y="4644632"/>
            <a:ext cx="1911526" cy="1704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Game’s</a:t>
            </a:r>
          </a:p>
          <a:p>
            <a:pPr algn="ctr">
              <a:lnSpc>
                <a:spcPts val="6255"/>
              </a:lnSpc>
            </a:pPr>
            <a:r>
              <a:rPr lang="en-US" sz="5211">
                <a:solidFill>
                  <a:srgbClr val="ED8076"/>
                </a:solidFill>
                <a:latin typeface="Heading Now 31-38"/>
                <a:ea typeface="Heading Now 31-38"/>
                <a:cs typeface="Heading Now 31-38"/>
                <a:sym typeface="Heading Now 31-38"/>
              </a:rPr>
              <a:t>Still 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892622" y="5998497"/>
            <a:ext cx="2187560" cy="1082267"/>
          </a:xfrm>
          <a:custGeom>
            <a:avLst/>
            <a:gdLst/>
            <a:ahLst/>
            <a:cxnLst/>
            <a:rect l="l" t="t" r="r" b="b"/>
            <a:pathLst>
              <a:path w="2187560" h="1082267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6178937" y="216170"/>
            <a:ext cx="2160727" cy="2160727"/>
          </a:xfrm>
          <a:custGeom>
            <a:avLst/>
            <a:gdLst/>
            <a:ahLst/>
            <a:cxnLst/>
            <a:rect l="l" t="t" r="r" b="b"/>
            <a:pathLst>
              <a:path w="2160727" h="2160727">
                <a:moveTo>
                  <a:pt x="0" y="0"/>
                </a:moveTo>
                <a:lnTo>
                  <a:pt x="2160726" y="0"/>
                </a:lnTo>
                <a:lnTo>
                  <a:pt x="2160726" y="2160727"/>
                </a:lnTo>
                <a:lnTo>
                  <a:pt x="0" y="21607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838</Words>
  <Application>Microsoft Office PowerPoint</Application>
  <PresentationFormat>Custom</PresentationFormat>
  <Paragraphs>152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Heading Now 31-38 Bold</vt:lpstr>
      <vt:lpstr>Calibri</vt:lpstr>
      <vt:lpstr>Heading Now 31-38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VORTEXA 3.0 Hackathon</dc:title>
  <dc:creator>PRANAV</dc:creator>
  <cp:lastModifiedBy>Madhur Dhadve</cp:lastModifiedBy>
  <cp:revision>3</cp:revision>
  <dcterms:created xsi:type="dcterms:W3CDTF">2006-08-16T00:00:00Z</dcterms:created>
  <dcterms:modified xsi:type="dcterms:W3CDTF">2026-10-11T13:08:29Z</dcterms:modified>
  <dc:identifier>DAHXr7I3BNw</dc:identifier>
</cp:coreProperties>
</file>